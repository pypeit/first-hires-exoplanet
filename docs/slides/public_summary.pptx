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0B0B0B"/>
                </a:solidFill>
              </a:rPr>
              <a:t>You could do most of this yourself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0">
                <a:solidFill>
                  <a:srgbClr val="52514E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52514E"/>
                </a:solidFill>
              </a:rPr>
              <a:t>Ten prompts steered it (shortened):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795527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000" b="0">
                <a:solidFill>
                  <a:srgbClr val="0B0B0B"/>
                </a:solidFill>
              </a:rPr>
              <a:t>1.  Find the first exoplanet discovered with Keck/HIRES.</a:t>
            </a:r>
          </a:p>
          <a:p>
            <a:pPr>
              <a:spcAft>
                <a:spcPts val="300"/>
              </a:spcAft>
            </a:pPr>
            <a:r>
              <a:rPr sz="2000" b="0">
                <a:solidFill>
                  <a:srgbClr val="0B0B0B"/>
                </a:solidFill>
              </a:rPr>
              <a:t>2.  Ask me another round of questions.</a:t>
            </a:r>
          </a:p>
          <a:p>
            <a:pPr>
              <a:spcAft>
                <a:spcPts val="300"/>
              </a:spcAft>
            </a:pPr>
            <a:r>
              <a:rPr sz="2000" b="0">
                <a:solidFill>
                  <a:srgbClr val="0B0B0B"/>
                </a:solidFill>
              </a:rPr>
              <a:t>3.  Make clear it is the star that moves; the planet is invisible.</a:t>
            </a:r>
          </a:p>
          <a:p>
            <a:pPr>
              <a:spcAft>
                <a:spcPts val="300"/>
              </a:spcAft>
            </a:pPr>
            <a:r>
              <a:rPr sz="2000" b="0">
                <a:solidFill>
                  <a:srgbClr val="0B0B0B"/>
                </a:solidFill>
              </a:rPr>
              <a:t>4.  Write a plan for working on the 1998 data.</a:t>
            </a:r>
          </a:p>
          <a:p>
            <a:pPr>
              <a:spcAft>
                <a:spcPts val="300"/>
              </a:spcAft>
            </a:pPr>
            <a:r>
              <a:rPr sz="2000" b="0">
                <a:solidFill>
                  <a:srgbClr val="0B0B0B"/>
                </a:solidFill>
              </a:rPr>
              <a:t>5.  Check that PypeIt is ready for the original HIRES detector.</a:t>
            </a:r>
          </a:p>
          <a:p>
            <a:pPr>
              <a:spcAft>
                <a:spcPts val="300"/>
              </a:spcAft>
            </a:pPr>
            <a:r>
              <a:rPr sz="2000" b="0">
                <a:solidFill>
                  <a:srgbClr val="0B0B0B"/>
                </a:solidFill>
              </a:rPr>
              <a:t>6.  Fix the issues you have identified.</a:t>
            </a:r>
          </a:p>
          <a:p>
            <a:pPr>
              <a:spcAft>
                <a:spcPts val="300"/>
              </a:spcAft>
            </a:pPr>
            <a:r>
              <a:rPr sz="2000" b="0">
                <a:solidFill>
                  <a:srgbClr val="0B0B0B"/>
                </a:solidFill>
              </a:rPr>
              <a:t>7.  Take account of pyodine: adapt it rather than build it.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A78D6"/>
                </a:solidFill>
              </a:rPr>
              <a:t>8.  Reread the file and execute prompt #N.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A78D6"/>
                </a:solidFill>
              </a:rPr>
              <a:t>9.  Answer: (a)</a:t>
            </a:r>
          </a:p>
          <a:p>
            <a:pPr>
              <a:spcAft>
                <a:spcPts val="300"/>
              </a:spcAft>
            </a:pPr>
            <a:r>
              <a:rPr sz="2000" b="0">
                <a:solidFill>
                  <a:srgbClr val="0B0B0B"/>
                </a:solidFill>
              </a:rPr>
              <a:t>10.  Draft the report to the PypeIt team; show it to me first.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41080" y="1097280"/>
            <a:ext cx="3182112" cy="105156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2800" b="1">
                <a:solidFill>
                  <a:srgbClr val="2A78D6"/>
                </a:solidFill>
              </a:rPr>
              <a:t>12 days</a:t>
            </a:r>
          </a:p>
          <a:p>
            <a:pPr algn="l"/>
            <a:r>
              <a:rPr sz="2000" b="0">
                <a:solidFill>
                  <a:srgbClr val="52514E"/>
                </a:solidFill>
              </a:rPr>
              <a:t>Sep 19 – Sep 30,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8641080" y="2258568"/>
            <a:ext cx="3182112" cy="105156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2800" b="1">
                <a:solidFill>
                  <a:srgbClr val="2A78D6"/>
                </a:solidFill>
              </a:rPr>
              <a:t>49 steps</a:t>
            </a:r>
          </a:p>
          <a:p>
            <a:pPr algn="l"/>
            <a:r>
              <a:rPr sz="2000" b="0">
                <a:solidFill>
                  <a:srgbClr val="52514E"/>
                </a:solidFill>
              </a:rPr>
              <a:t>“execute prompt #N”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8641080" y="3419856"/>
            <a:ext cx="3182112" cy="105156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2800" b="1">
                <a:solidFill>
                  <a:srgbClr val="2A78D6"/>
                </a:solidFill>
              </a:rPr>
              <a:t>26 decisions</a:t>
            </a:r>
          </a:p>
          <a:p>
            <a:pPr algn="l"/>
            <a:r>
              <a:rPr sz="2000" b="0">
                <a:solidFill>
                  <a:srgbClr val="52514E"/>
                </a:solidFill>
              </a:rPr>
              <a:t>often just “(a)”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41080" y="4581144"/>
            <a:ext cx="3182112" cy="105156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2800" b="1">
                <a:solidFill>
                  <a:srgbClr val="2A78D6"/>
                </a:solidFill>
              </a:rPr>
              <a:t>All free</a:t>
            </a:r>
          </a:p>
          <a:p>
            <a:pPr algn="l"/>
            <a:r>
              <a:rPr sz="2000" b="0">
                <a:solidFill>
                  <a:srgbClr val="52514E"/>
                </a:solidFill>
              </a:rPr>
              <a:t>public data and software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806440"/>
            <a:ext cx="11457432" cy="91440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B0B0B"/>
                </a:solidFill>
              </a:rPr>
              <a:t>I set the goal and made the calls. The AI wrote the plans, the code and the reports — and re-found the planet at the published 72 m/s.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0B0B0B"/>
                </a:solidFill>
              </a:rPr>
              <a:t>A teacher could lead a class through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0">
                <a:solidFill>
                  <a:srgbClr val="52514E"/>
                </a:solidFill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09728" cy="1600200"/>
          </a:xfrm>
          <a:prstGeom prst="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" y="1143000"/>
            <a:ext cx="3547872" cy="1600200"/>
          </a:xfrm>
          <a:prstGeom prst="rect">
            <a:avLst/>
          </a:prstGeom>
          <a:solidFill>
            <a:srgbClr val="F3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2200" b="1">
                <a:solidFill>
                  <a:srgbClr val="0B0B0B"/>
                </a:solidFill>
              </a:rPr>
              <a:t>Lesson 1 · The wobble</a:t>
            </a:r>
          </a:p>
          <a:p>
            <a:pPr algn="l"/>
            <a:r>
              <a:rPr sz="2000" b="0">
                <a:solidFill>
                  <a:srgbClr val="52514E"/>
                </a:solidFill>
              </a:rPr>
              <a:t>A planet tugs its star; we see the star move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1104" y="1143000"/>
            <a:ext cx="109728" cy="1600200"/>
          </a:xfrm>
          <a:prstGeom prst="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70832" y="1143000"/>
            <a:ext cx="3547872" cy="1600200"/>
          </a:xfrm>
          <a:prstGeom prst="rect">
            <a:avLst/>
          </a:prstGeom>
          <a:solidFill>
            <a:srgbClr val="F3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2200" b="1">
                <a:solidFill>
                  <a:srgbClr val="0B0B0B"/>
                </a:solidFill>
              </a:rPr>
              <a:t>Lesson 2 · The archive</a:t>
            </a:r>
          </a:p>
          <a:p>
            <a:pPr algn="l"/>
            <a:r>
              <a:rPr sz="2000" b="0">
                <a:solidFill>
                  <a:srgbClr val="52514E"/>
                </a:solidFill>
              </a:rPr>
              <a:t>Find the 1998 Keck images: they are public</a:t>
            </a:r>
          </a:p>
        </p:txBody>
      </p:sp>
      <p:sp>
        <p:nvSpPr>
          <p:cNvPr id="9" name="Rectangle 8"/>
          <p:cNvSpPr/>
          <p:nvPr/>
        </p:nvSpPr>
        <p:spPr>
          <a:xfrm>
            <a:off x="8156448" y="1143000"/>
            <a:ext cx="109728" cy="1600200"/>
          </a:xfrm>
          <a:prstGeom prst="rect">
            <a:avLst/>
          </a:prstGeom>
          <a:solidFill>
            <a:srgbClr val="8A8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66176" y="1143000"/>
            <a:ext cx="3547872" cy="1600200"/>
          </a:xfrm>
          <a:prstGeom prst="rect">
            <a:avLst/>
          </a:prstGeom>
          <a:solidFill>
            <a:srgbClr val="F3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2200" b="1">
                <a:solidFill>
                  <a:srgbClr val="0B0B0B"/>
                </a:solidFill>
              </a:rPr>
              <a:t>Lesson 3 · Light into spectra</a:t>
            </a:r>
          </a:p>
          <a:p>
            <a:pPr algn="l"/>
            <a:r>
              <a:rPr sz="2000" b="0">
                <a:solidFill>
                  <a:srgbClr val="52514E"/>
                </a:solidFill>
              </a:rPr>
              <a:t>Turn raw images into a barcoded rainbow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926080"/>
            <a:ext cx="109728" cy="1600200"/>
          </a:xfrm>
          <a:prstGeom prst="rect">
            <a:avLst/>
          </a:prstGeom>
          <a:solidFill>
            <a:srgbClr val="8A8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" y="2926080"/>
            <a:ext cx="3547872" cy="1600200"/>
          </a:xfrm>
          <a:prstGeom prst="rect">
            <a:avLst/>
          </a:prstGeom>
          <a:solidFill>
            <a:srgbClr val="F3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2200" b="1">
                <a:solidFill>
                  <a:srgbClr val="0B0B0B"/>
                </a:solidFill>
              </a:rPr>
              <a:t>Lesson 4 · Lamps fall short</a:t>
            </a:r>
          </a:p>
          <a:p>
            <a:pPr algn="l"/>
            <a:r>
              <a:rPr sz="2000" b="0">
                <a:solidFill>
                  <a:srgbClr val="52514E"/>
                </a:solidFill>
              </a:rPr>
              <a:t>Our first try missed the planet. Why?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1104" y="2926080"/>
            <a:ext cx="109728" cy="16002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2926080"/>
            <a:ext cx="3547872" cy="1600200"/>
          </a:xfrm>
          <a:prstGeom prst="rect">
            <a:avLst/>
          </a:prstGeom>
          <a:solidFill>
            <a:srgbClr val="F3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2200" b="1">
                <a:solidFill>
                  <a:srgbClr val="0B0B0B"/>
                </a:solidFill>
              </a:rPr>
              <a:t>Lesson 5 · A ruler of iodine</a:t>
            </a:r>
          </a:p>
          <a:p>
            <a:pPr algn="l"/>
            <a:r>
              <a:rPr sz="2000" b="0">
                <a:solidFill>
                  <a:srgbClr val="52514E"/>
                </a:solidFill>
              </a:rPr>
              <a:t>Gas in the light path marks every exposure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6448" y="2926080"/>
            <a:ext cx="109728" cy="16002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66176" y="2926080"/>
            <a:ext cx="3547872" cy="1600200"/>
          </a:xfrm>
          <a:prstGeom prst="rect">
            <a:avLst/>
          </a:prstGeom>
          <a:solidFill>
            <a:srgbClr val="F3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2200" b="1">
                <a:solidFill>
                  <a:srgbClr val="0B0B0B"/>
                </a:solidFill>
              </a:rPr>
              <a:t>Lesson 6 · Find the planet</a:t>
            </a:r>
          </a:p>
          <a:p>
            <a:pPr algn="l"/>
            <a:r>
              <a:rPr sz="2000" b="0">
                <a:solidFill>
                  <a:srgbClr val="52514E"/>
                </a:solidFill>
              </a:rPr>
              <a:t>Fit a 3.1-day wave; compare with 1998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6360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B0B0B"/>
                </a:solidFill>
              </a:rPr>
              <a:t>What I would hand the teacher: this repository (every plan, question and answer), the ten prompts, the public write-up for students to read, and the judgment calls: when a result looks wrong, and why.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806440"/>
            <a:ext cx="11457432" cy="91440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B0B0B"/>
                </a:solidFill>
              </a:rPr>
              <a:t>The scarce skill was knowing what to ask and when to doubt an answer. That can be taught.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