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1">
                <a:solidFill>
                  <a:srgbClr val="0B0B0B"/>
                </a:solidFill>
              </a:rPr>
              <a:t>Re-detecting HD 187123 b from the 1998 Keck/HIRES frames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3832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0">
                <a:solidFill>
                  <a:srgbClr val="52514E"/>
                </a:solidFill>
              </a:rPr>
              <a:t>A modern, open reduction of the first planet Keck found: PypeIt + an iodine forward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52514E"/>
                </a:solidFill>
              </a:rPr>
              <a:t>J. Xavier Prochaska and Claude  ·  phases 1–3  ·  30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0B0B0B"/>
                </a:solidFill>
              </a:rPr>
              <a:t>The bottom 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2743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2000" b="0">
                <a:solidFill>
                  <a:srgbClr val="52514E"/>
                </a:solidFill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97280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>
                <a:solidFill>
                  <a:srgbClr val="0B0B0B"/>
                </a:solidFill>
              </a:rPr>
              <a:t>• Planet recovered: K = 72.4 ± 7.1 m/s (10.2σ); published 72, modern catalogue 69.2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0B0B0B"/>
                </a:solidFill>
              </a:rPr>
              <a:t>• Period found blind: 3.0954 d (true 3.0966 d), false-alarm probability 2 × 10⁻¹¹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0B0B0B"/>
                </a:solidFill>
              </a:rPr>
              <a:t>• 25.8 m/s per epoch about the orbit; 31 cell-in epochs, 19 nights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0B0B0B"/>
                </a:solidFill>
              </a:rPr>
              <a:t>• 28× better than lamp-calibrated velocities; ~9× short of Butler’s 3 m/s; ~12× short of the modern pipeline (2.2 m/s)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0B0B0B"/>
                </a:solidFill>
              </a:rPr>
              <a:t>• All open: PypeIt + a tested pyodine fork; nothing from the discovery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5806440"/>
            <a:ext cx="11457432" cy="91440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0B0B0B"/>
                </a:solidFill>
              </a:rPr>
              <a:t>Success criterion (50 m/s per epoch, an independent detection): met.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0B0B0B"/>
                </a:solidFill>
              </a:rPr>
              <a:t>Three phases, one chain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2743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2000" b="0">
                <a:solidFill>
                  <a:srgbClr val="52514E"/>
                </a:solidFill>
              </a:rPr>
              <a:t>3</a:t>
            </a:r>
          </a:p>
        </p:txBody>
      </p:sp>
      <p:pic>
        <p:nvPicPr>
          <p:cNvPr id="5" name="Picture 4" descr="fig_slides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93083"/>
            <a:ext cx="11457432" cy="382611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5806440"/>
            <a:ext cx="11457432" cy="91440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0B0B0B"/>
                </a:solidFill>
              </a:rPr>
              <a:t>Phase 2 measured why lamps fail; phase 3 replaced the lamp with the iodine cell.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1BAF7A"/>
                </a:solidFill>
              </a:rPr>
              <a:t>Phase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65176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800" b="1">
                <a:solidFill>
                  <a:srgbClr val="0B0B0B"/>
                </a:solidFill>
              </a:rPr>
              <a:t>PypeIt on the pre-2004 HIRES CCD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>
                <a:solidFill>
                  <a:srgbClr val="52514E"/>
                </a:solidFill>
              </a:rPr>
              <a:t>Can a modern open pipeline reduce the original Tektronix-detector frames at all?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0B0B0B"/>
                </a:solidFill>
              </a:rPr>
              <a:t>Phase 1: what PypeIt needed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2743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2000" b="0">
                <a:solidFill>
                  <a:srgbClr val="52514E"/>
                </a:solidFill>
              </a:rPr>
              <a:t>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34440"/>
          <a:ext cx="11274551" cy="4096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4206240"/>
                <a:gridCol w="4050791"/>
              </a:tblGrid>
              <a:tr h="512064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</a:rPr>
                        <a:t>item</a:t>
                      </a:r>
                    </a:p>
                  </a:txBody>
                  <a:tcPr marT="36576" marB="36576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</a:rPr>
                        <a:t>fix</a:t>
                      </a:r>
                    </a:p>
                  </a:txBody>
                  <a:tcPr marT="36576" marB="36576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</a:rPr>
                        <a:t>symptom</a:t>
                      </a:r>
                    </a:p>
                  </a:txBody>
                  <a:tcPr marT="36576" marB="36576">
                    <a:solidFill>
                      <a:srgbClr val="2A78D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0B0B0B"/>
                          </a:solidFill>
                        </a:rPr>
                        <a:t>get_rawimage</a:t>
                      </a:r>
                    </a:p>
                  </a:txBody>
                  <a:tcPr marT="36576" marB="36576"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0B0B0B"/>
                          </a:solidFill>
                        </a:rPr>
                        <a:t>prepix × namp</a:t>
                      </a:r>
                    </a:p>
                  </a:txBody>
                  <a:tcPr marT="36576" marB="36576"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0B0B0B"/>
                          </a:solidFill>
                        </a:rPr>
                        <a:t>image 21 columns off</a:t>
                      </a:r>
                    </a:p>
                  </a:txBody>
                  <a:tcPr marT="36576" marB="36576">
                    <a:solidFill>
                      <a:srgbClr val="F3F3F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0B0B0B"/>
                          </a:solidFill>
                        </a:rPr>
                        <a:t>bad-pixel mask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0B0B0B"/>
                          </a:solidFill>
                        </a:rPr>
                        <a:t>column C − PREPIX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0B0B0B"/>
                          </a:solidFill>
                        </a:rPr>
                        <a:t>mask 20 px off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0B0B0B"/>
                          </a:solidFill>
                        </a:rPr>
                        <a:t>binning</a:t>
                      </a:r>
                    </a:p>
                  </a:txBody>
                  <a:tcPr marT="36576" marB="36576"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0B0B0B"/>
                          </a:solidFill>
                        </a:rPr>
                        <a:t>'1,2' not '2,1'</a:t>
                      </a:r>
                    </a:p>
                  </a:txBody>
                  <a:tcPr marT="36576" marB="36576"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0B0B0B"/>
                          </a:solidFill>
                        </a:rPr>
                        <a:t>platescale halved</a:t>
                      </a:r>
                    </a:p>
                  </a:txBody>
                  <a:tcPr marT="36576" marB="36576">
                    <a:solidFill>
                      <a:srgbClr val="F3F3F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0B0B0B"/>
                          </a:solidFill>
                        </a:rPr>
                        <a:t>check_spectrograph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0B0B0B"/>
                          </a:solidFill>
                        </a:rPr>
                        <a:t>raise the error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0B0B0B"/>
                          </a:solidFill>
                        </a:rPr>
                        <a:t>silently accepted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0B0B0B"/>
                          </a:solidFill>
                        </a:rPr>
                        <a:t>exprng</a:t>
                      </a:r>
                    </a:p>
                  </a:txBody>
                  <a:tcPr marT="36576" marB="36576"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0B0B0B"/>
                          </a:solidFill>
                        </a:rPr>
                        <a:t>[1, None] for Orig</a:t>
                      </a:r>
                    </a:p>
                  </a:txBody>
                  <a:tcPr marT="36576" marB="36576"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0B0B0B"/>
                          </a:solidFill>
                        </a:rPr>
                        <a:t>science excluded</a:t>
                      </a:r>
                    </a:p>
                  </a:txBody>
                  <a:tcPr marT="36576" marB="36576">
                    <a:solidFill>
                      <a:srgbClr val="F3F3F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0B0B0B"/>
                          </a:solidFill>
                        </a:rPr>
                        <a:t>find_trim_edge, sky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0B0B0B"/>
                          </a:solidFill>
                        </a:rPr>
                        <a:t>1,1; no sky fit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0B0B0B"/>
                          </a:solidFill>
                        </a:rPr>
                        <a:t>star fills the slit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0B0B0B"/>
                          </a:solidFill>
                        </a:rPr>
                        <a:t>flats</a:t>
                      </a:r>
                    </a:p>
                  </a:txBody>
                  <a:tcPr marT="36576" marB="36576"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0B0B0B"/>
                          </a:solidFill>
                        </a:rPr>
                        <a:t>borrow clean B1 flats</a:t>
                      </a:r>
                    </a:p>
                  </a:txBody>
                  <a:tcPr marT="36576" marB="36576"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0B0B0B"/>
                          </a:solidFill>
                        </a:rPr>
                        <a:t>none on most nights</a:t>
                      </a:r>
                    </a:p>
                  </a:txBody>
                  <a:tcPr marT="36576" marB="36576">
                    <a:solidFill>
                      <a:srgbClr val="F3F3F1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365760" y="5806440"/>
            <a:ext cx="11457432" cy="91440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0B0B0B"/>
                </a:solidFill>
              </a:rPr>
              <a:t>Fixes on branch orig-hires-fixes (017bece06); verify_orig_fixes.py reproduces them.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0B0B0B"/>
                </a:solidFill>
              </a:rPr>
              <a:t>37 orders, every one solved below 0.2 px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2743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2000" b="0">
                <a:solidFill>
                  <a:srgbClr val="52514E"/>
                </a:solidFill>
              </a:rPr>
              <a:t>6</a:t>
            </a:r>
          </a:p>
        </p:txBody>
      </p:sp>
      <p:pic>
        <p:nvPicPr>
          <p:cNvPr id="5" name="Picture 4" descr="fig_p1_wave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61429"/>
            <a:ext cx="11457432" cy="408942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5806440"/>
            <a:ext cx="11457432" cy="91440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0B0B0B"/>
                </a:solidFill>
              </a:rPr>
              <a:t>July 1998: 10 of 10 frames, 37 orders each; wavecal RMS medians 0.115–0.127 px.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0B0B0B"/>
                </a:solidFill>
              </a:rPr>
              <a:t>The traced orders and the flat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2743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2000" b="0">
                <a:solidFill>
                  <a:srgbClr val="52514E"/>
                </a:solidFill>
              </a:rPr>
              <a:t>7</a:t>
            </a:r>
          </a:p>
        </p:txBody>
      </p:sp>
      <p:pic>
        <p:nvPicPr>
          <p:cNvPr id="5" name="Picture 4" descr="fig_p1_ord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66450"/>
            <a:ext cx="11457432" cy="40793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5806440"/>
            <a:ext cx="11457432" cy="91440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0B0B0B"/>
                </a:solidFill>
              </a:rPr>
              <a:t>The inherited find_trim_edge = 3,3 would mask 6 of ~10 pixels per order.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8A8A86"/>
                </a:solidFill>
              </a:rPr>
              <a:t>Phase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65176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800" b="1">
                <a:solidFill>
                  <a:srgbClr val="0B0B0B"/>
                </a:solidFill>
              </a:rPr>
              <a:t>Twenty nights, and velocities from a lamp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>
                <a:solidFill>
                  <a:srgbClr val="52514E"/>
                </a:solidFill>
              </a:rPr>
              <a:t>The whole discovery era reduced; velocities by cross-correlation; the inputs phase 3 needs.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0B0B0B"/>
                </a:solidFill>
              </a:rPr>
              <a:t>What phase 2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2743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2000" b="0">
                <a:solidFill>
                  <a:srgbClr val="52514E"/>
                </a:solidFill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97280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>
                <a:solidFill>
                  <a:srgbClr val="0B0B0B"/>
                </a:solidFill>
              </a:rPr>
              <a:t>• 20 nights, 36 frames, 37 orders; wavecal RMS 0.11–0.15 px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0B0B0B"/>
                </a:solidFill>
              </a:rPr>
              <a:t>• Quality filter: 1329 order-spectra, 11.3% rejected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0B0B0B"/>
                </a:solidFill>
              </a:rPr>
              <a:t>• Template: three cell-out exposures, S/N ~790 per pixel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0B0B0B"/>
                </a:solidFill>
              </a:rPr>
              <a:t>• Atlas: Fischer 2022 FTS; positions match (r = 0.928), depths need α = 2.59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0B0B0B"/>
                </a:solidFill>
              </a:rPr>
              <a:t>• Adapter: observed frame, JD(UTC) mid-exposure, BVC in m/s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5806440"/>
            <a:ext cx="11457432" cy="91440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0B0B0B"/>
                </a:solidFill>
              </a:rPr>
              <a:t>Plus refframe_audit.py: two PypeIt core/wave.py bugs (next slide).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0B0B0B"/>
                </a:solidFill>
              </a:rPr>
              <a:t>PypeIt’s velocity correction (refframe_audit.py)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2743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2000" b="0">
                <a:solidFill>
                  <a:srgbClr val="52514E"/>
                </a:solidFill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97280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>
                <a:solidFill>
                  <a:srgbClr val="0B0B0B"/>
                </a:solidFill>
              </a:rPr>
              <a:t>• Solar-term sign error in geomotion_velocity (wave.py:128)</a:t>
            </a:r>
          </a:p>
          <a:p>
            <a:pPr lvl="1">
              <a:spcAft>
                <a:spcPts val="800"/>
              </a:spcAft>
            </a:pPr>
            <a:r>
              <a:rPr sz="2200" b="0">
                <a:solidFill>
                  <a:srgbClr val="0B0B0B"/>
                </a:solidFill>
              </a:rPr>
              <a:t>– +9 to +14 m/s off astropy; drifts 5.2 m/s over nine months</a:t>
            </a:r>
          </a:p>
          <a:p>
            <a:pPr lvl="1">
              <a:spcAft>
                <a:spcPts val="800"/>
              </a:spcAft>
            </a:pPr>
            <a:r>
              <a:rPr sz="2200" b="0">
                <a:solidFill>
                  <a:srgbClr val="0B0B0B"/>
                </a:solidFill>
              </a:rPr>
              <a:t>– heliocentric is the default: every user is affected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0B0B0B"/>
                </a:solidFill>
              </a:rPr>
              <a:t>• Relativistic terms omitted in geomotion_correct</a:t>
            </a:r>
          </a:p>
          <a:p>
            <a:pPr lvl="1">
              <a:spcAft>
                <a:spcPts val="800"/>
              </a:spcAft>
            </a:pPr>
            <a:r>
              <a:rPr sz="2200" b="0">
                <a:solidFill>
                  <a:srgbClr val="0B0B0B"/>
                </a:solidFill>
              </a:rPr>
              <a:t>– −4.6 m/s, nearly constant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5806440"/>
            <a:ext cx="11457432" cy="91440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0B0B0B"/>
                </a:solidFill>
              </a:rPr>
              <a:t>Both still in develop; reported upstream.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0B0B0B"/>
                </a:solidFill>
              </a:rPr>
              <a:t>The atlas: positions transfer, depths need α ≈ 2.6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2743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2000" b="0">
                <a:solidFill>
                  <a:srgbClr val="52514E"/>
                </a:solidFill>
              </a:rPr>
              <a:t>11</a:t>
            </a:r>
          </a:p>
        </p:txBody>
      </p:sp>
      <p:pic>
        <p:nvPicPr>
          <p:cNvPr id="5" name="Picture 4" descr="fig_p2_atl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7838" y="1097280"/>
            <a:ext cx="8553276" cy="46177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5806440"/>
            <a:ext cx="11457432" cy="91440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0B0B0B"/>
                </a:solidFill>
              </a:rPr>
              <a:t>Beer–Lambert, not pyodine’s linear scaling (negative at α = 2.6).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0B0B0B"/>
                </a:solidFill>
              </a:rPr>
              <a:t>Cross-correlation: the planet is not there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2743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2000" b="0">
                <a:solidFill>
                  <a:srgbClr val="52514E"/>
                </a:solidFill>
              </a:rPr>
              <a:t>12</a:t>
            </a:r>
          </a:p>
        </p:txBody>
      </p:sp>
      <p:pic>
        <p:nvPicPr>
          <p:cNvPr id="5" name="Picture 4" descr="fig_p2_phasef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44897"/>
            <a:ext cx="11457432" cy="452248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5806440"/>
            <a:ext cx="11457432" cy="91440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0B0B0B"/>
                </a:solidFill>
              </a:rPr>
              <a:t>36 epochs, rms 702 m/s; K = 408 ± 188 m/s — not a detection.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0B0B0B"/>
                </a:solidFill>
              </a:rPr>
              <a:t>Why the lamp fails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2743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2000" b="0">
                <a:solidFill>
                  <a:srgbClr val="52514E"/>
                </a:solidFill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97280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>
                <a:solidFill>
                  <a:srgbClr val="0B0B0B"/>
                </a:solidFill>
              </a:rPr>
              <a:t>• Orders within one exposure agree to 47 m/s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0B0B0B"/>
                </a:solidFill>
              </a:rPr>
              <a:t>• Exposures disagree by ~700 m/s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0B0B0B"/>
                </a:solidFill>
              </a:rPr>
              <a:t>• So the limit is the wavelength zero point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0B0B0B"/>
                </a:solidFill>
              </a:rPr>
              <a:t>• Borrowed-arc night: +1.5 to +2.4 km/s off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0B0B0B"/>
                </a:solidFill>
              </a:rPr>
              <a:t>• 08-25: drifts 1.6 km/s in 6.7 hours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5806440"/>
            <a:ext cx="11457432" cy="91440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0B0B0B"/>
                </a:solidFill>
              </a:rPr>
              <a:t>The iodine cell fixes exactly this: its ruler rides on the same photons.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2A78D6"/>
                </a:solidFill>
              </a:rPr>
              <a:t>Phase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65176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800" b="1">
                <a:solidFill>
                  <a:srgbClr val="0B0B0B"/>
                </a:solidFill>
              </a:rPr>
              <a:t>The iodine forward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>
                <a:solidFill>
                  <a:srgbClr val="52514E"/>
                </a:solidFill>
              </a:rPr>
              <a:t>Fork pyodine, adapt it to HIRES, fit every cell-in epoch, and assess exactly as phase 2 did.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0B0B0B"/>
                </a:solidFill>
              </a:rPr>
              <a:t>The pyodine fork: six tested changes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2743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2000" b="0">
                <a:solidFill>
                  <a:srgbClr val="52514E"/>
                </a:solidFill>
              </a:rPr>
              <a:t>15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34440"/>
          <a:ext cx="11274552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4937760"/>
                <a:gridCol w="5605272"/>
              </a:tblGrid>
              <a:tr h="54864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marT="36576" marB="36576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</a:rPr>
                        <a:t>change</a:t>
                      </a:r>
                    </a:p>
                  </a:txBody>
                  <a:tcPr marT="36576" marB="36576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</a:rPr>
                        <a:t>why</a:t>
                      </a:r>
                    </a:p>
                  </a:txBody>
                  <a:tcPr marT="36576" marB="36576">
                    <a:solidFill>
                      <a:srgbClr val="2A78D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0B0B0B"/>
                          </a:solidFill>
                        </a:rPr>
                        <a:t>0</a:t>
                      </a:r>
                    </a:p>
                  </a:txBody>
                  <a:tcPr marT="36576" marB="36576"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0B0B0B"/>
                          </a:solidFill>
                        </a:rPr>
                        <a:t>NumPy 2</a:t>
                      </a:r>
                    </a:p>
                  </a:txBody>
                  <a:tcPr marT="36576" marB="36576"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0B0B0B"/>
                          </a:solidFill>
                        </a:rPr>
                        <a:t>does not run as shipped</a:t>
                      </a:r>
                    </a:p>
                  </a:txBody>
                  <a:tcPr marT="36576" marB="36576">
                    <a:solidFill>
                      <a:srgbClr val="F3F3F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0B0B0B"/>
                          </a:solidFill>
                        </a:rPr>
                        <a:t>1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0B0B0B"/>
                          </a:solidFill>
                        </a:rPr>
                        <a:t>Beer–Lambert depth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0B0B0B"/>
                          </a:solidFill>
                        </a:rPr>
                        <a:t>linear goes negative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0B0B0B"/>
                          </a:solidFill>
                        </a:rPr>
                        <a:t>2</a:t>
                      </a:r>
                    </a:p>
                  </a:txBody>
                  <a:tcPr marT="36576" marB="36576"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0B0B0B"/>
                          </a:solidFill>
                        </a:rPr>
                        <a:t>atlas wavelength frame</a:t>
                      </a:r>
                    </a:p>
                  </a:txBody>
                  <a:tcPr marT="36576" marB="36576"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0B0B0B"/>
                          </a:solidFill>
                        </a:rPr>
                        <a:t>air vs vacuum: 83 km/s</a:t>
                      </a:r>
                    </a:p>
                  </a:txBody>
                  <a:tcPr marT="36576" marB="36576">
                    <a:solidFill>
                      <a:srgbClr val="F3F3F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0B0B0B"/>
                          </a:solidFill>
                        </a:rPr>
                        <a:t>3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0B0B0B"/>
                          </a:solidFill>
                        </a:rPr>
                        <a:t>bary units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0B0B0B"/>
                          </a:solidFill>
                        </a:rPr>
                        <a:t>JD(UTC) and m/s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0B0B0B"/>
                          </a:solidFill>
                        </a:rPr>
                        <a:t>4</a:t>
                      </a:r>
                    </a:p>
                  </a:txBody>
                  <a:tcPr marT="36576" marB="36576"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0B0B0B"/>
                          </a:solidFill>
                        </a:rPr>
                        <a:t>weight by 'ivar'</a:t>
                      </a:r>
                    </a:p>
                  </a:txBody>
                  <a:tcPr marT="36576" marB="36576"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0B0B0B"/>
                          </a:solidFill>
                        </a:rPr>
                        <a:t>use PypeIt’s noise</a:t>
                      </a:r>
                    </a:p>
                  </a:txBody>
                  <a:tcPr marT="36576" marB="36576">
                    <a:solidFill>
                      <a:srgbClr val="F3F3F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0B0B0B"/>
                          </a:solidFill>
                        </a:rPr>
                        <a:t>5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0B0B0B"/>
                          </a:solidFill>
                        </a:rPr>
                        <a:t>chunk template index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0B0B0B"/>
                          </a:solidFill>
                        </a:rPr>
                        <a:t>order subsets misfit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365760" y="5806440"/>
            <a:ext cx="11457432" cy="91440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0B0B0B"/>
                </a:solidFill>
              </a:rPr>
              <a:t>pyodine 4488b09 + changes 0–5; each has a test that fails without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0B0B0B"/>
                </a:solidFill>
              </a:rPr>
              <a:t>Deconvolution: pyodine’s spline fails at HIRES sampling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2743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2000" b="0">
                <a:solidFill>
                  <a:srgbClr val="52514E"/>
                </a:solidFill>
              </a:rPr>
              <a:t>16</a:t>
            </a:r>
          </a:p>
        </p:txBody>
      </p:sp>
      <p:pic>
        <p:nvPicPr>
          <p:cNvPr id="5" name="Picture 4" descr="fig_p3_decon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9836" y="1097280"/>
            <a:ext cx="8209280" cy="46177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5806440"/>
            <a:ext cx="11457432" cy="91440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0B0B0B"/>
                </a:solidFill>
              </a:rPr>
              <a:t>misc.rebin overshoots 2.2-px lines; oversampling 1 re-convolves at χ² 1.1.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0B0B0B"/>
                </a:solidFill>
              </a:rPr>
              <a:t>One epoch: right velocity, wrong iodine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2743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2000" b="0">
                <a:solidFill>
                  <a:srgbClr val="52514E"/>
                </a:solidFill>
              </a:rPr>
              <a:t>17</a:t>
            </a:r>
          </a:p>
        </p:txBody>
      </p:sp>
      <p:pic>
        <p:nvPicPr>
          <p:cNvPr id="5" name="Picture 4" descr="fig_p5_one_epo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2832" y="1097280"/>
            <a:ext cx="8263288" cy="46177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5806440"/>
            <a:ext cx="11457432" cy="91440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0B0B0B"/>
                </a:solidFill>
              </a:rPr>
              <a:t>Within 12–18 m/s of prediction; the misfit tracks iodine contrast (ρ ≈ +0.7).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0B0B0B"/>
                </a:solidFill>
              </a:rPr>
              <a:t>The instrumental profile is not the lever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2743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2000" b="0">
                <a:solidFill>
                  <a:srgbClr val="52514E"/>
                </a:solidFill>
              </a:rPr>
              <a:t>18</a:t>
            </a:r>
          </a:p>
        </p:txBody>
      </p:sp>
      <p:pic>
        <p:nvPicPr>
          <p:cNvPr id="5" name="Picture 4" descr="fig_p6_lsf_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21224"/>
            <a:ext cx="11457432" cy="336983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5806440"/>
            <a:ext cx="11457432" cy="91440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0B0B0B"/>
                </a:solidFill>
              </a:rPr>
              <a:t>Four LSF models tie to ±5%; super-Gaussian chosen.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0B0B0B"/>
                </a:solidFill>
              </a:rPr>
              <a:t>B stars: the atlas’s line pattern is the limit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2743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2000" b="0">
                <a:solidFill>
                  <a:srgbClr val="52514E"/>
                </a:solidFill>
              </a:rPr>
              <a:t>19</a:t>
            </a:r>
          </a:p>
        </p:txBody>
      </p:sp>
      <p:pic>
        <p:nvPicPr>
          <p:cNvPr id="5" name="Picture 4" descr="fig_p6b_bst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2832" y="1097280"/>
            <a:ext cx="8263288" cy="46177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5806440"/>
            <a:ext cx="11457432" cy="91440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0B0B0B"/>
                </a:solidFill>
              </a:rPr>
              <a:t>HIRES cell α ≈ 3.33; fixing α per chunk buys nothing.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0B0B0B"/>
                </a:solidFill>
              </a:rPr>
              <a:t>All 31 epochs: the misfit is common, and cancels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2743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2000" b="0">
                <a:solidFill>
                  <a:srgbClr val="52514E"/>
                </a:solidFill>
              </a:rPr>
              <a:t>20</a:t>
            </a:r>
          </a:p>
        </p:txBody>
      </p:sp>
      <p:pic>
        <p:nvPicPr>
          <p:cNvPr id="5" name="Picture 4" descr="fig_p7_epoch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1945" y="1097280"/>
            <a:ext cx="6805061" cy="46177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5806440"/>
            <a:ext cx="11457432" cy="91440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0B0B0B"/>
                </a:solidFill>
              </a:rPr>
              <a:t>pyodine’s chunk offsets remove it: 290 → 230 m/s per chunk; ~19 m/s per epoch.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0B0B0B"/>
                </a:solidFill>
              </a:rPr>
              <a:t>The detection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2743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2000" b="0">
                <a:solidFill>
                  <a:srgbClr val="52514E"/>
                </a:solidFill>
              </a:rPr>
              <a:t>21</a:t>
            </a:r>
          </a:p>
        </p:txBody>
      </p:sp>
      <p:pic>
        <p:nvPicPr>
          <p:cNvPr id="5" name="Picture 4" descr="fig_ph3_phasef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8386" y="1097280"/>
            <a:ext cx="8132179" cy="46177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5806440"/>
            <a:ext cx="11457432" cy="91440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0B0B0B"/>
                </a:solidFill>
              </a:rPr>
              <a:t>K = 72.4 ± 7.1 m/s (10.2σ); residual 25.8 m/s, χ²/dof 1.05.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0B0B0B"/>
                </a:solidFill>
              </a:rPr>
              <a:t>Epoch by epoch against the modern catalogue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2743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2000" b="0">
                <a:solidFill>
                  <a:srgbClr val="52514E"/>
                </a:solidFill>
              </a:rPr>
              <a:t>22</a:t>
            </a:r>
          </a:p>
        </p:txBody>
      </p:sp>
      <p:pic>
        <p:nvPicPr>
          <p:cNvPr id="5" name="Picture 4" descr="fig_ph3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6755" y="1097280"/>
            <a:ext cx="4675441" cy="46177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5806440"/>
            <a:ext cx="11457432" cy="91440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0B0B0B"/>
                </a:solidFill>
              </a:rPr>
              <a:t>r = +0.89 (phase 2: +0.38); the errors are honest (χ²/dof 1.03).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0B0B0B"/>
                </a:solidFill>
              </a:rPr>
              <a:t>Residuals and the blind period 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2743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2000" b="0">
                <a:solidFill>
                  <a:srgbClr val="52514E"/>
                </a:solidFill>
              </a:rPr>
              <a:t>23</a:t>
            </a:r>
          </a:p>
        </p:txBody>
      </p:sp>
      <p:pic>
        <p:nvPicPr>
          <p:cNvPr id="5" name="Picture 4" descr="fig_ph3_residu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9420" y="1097280"/>
            <a:ext cx="6770111" cy="46177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5806440"/>
            <a:ext cx="11457432" cy="91440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0B0B0B"/>
                </a:solidFill>
              </a:rPr>
              <a:t>No ThAr, misfit or order-count dependence; residual periodogram flat.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0B0B0B"/>
                </a:solidFill>
              </a:rPr>
              <a:t>Every named calibration defect is fixed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2743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2000" b="0">
                <a:solidFill>
                  <a:srgbClr val="52514E"/>
                </a:solidFill>
              </a:rPr>
              <a:t>24</a:t>
            </a:r>
          </a:p>
        </p:txBody>
      </p:sp>
      <p:pic>
        <p:nvPicPr>
          <p:cNvPr id="5" name="Picture 4" descr="fig_p9_diagno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1372" y="1097280"/>
            <a:ext cx="6386208" cy="46177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5806440"/>
            <a:ext cx="11457432" cy="91440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0B0B0B"/>
                </a:solidFill>
              </a:rPr>
              <a:t>Borrowed arcs, intra-night drift, the no-flat night, 09-13’s bad arc.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0B0B0B"/>
                </a:solidFill>
              </a:rPr>
              <a:t>What is left: re-combining without the weakest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2743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2000" b="0">
                <a:solidFill>
                  <a:srgbClr val="52514E"/>
                </a:solidFill>
              </a:rPr>
              <a:t>25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34440"/>
          <a:ext cx="11274552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94960"/>
                <a:gridCol w="1554480"/>
                <a:gridCol w="1554480"/>
                <a:gridCol w="2770632"/>
              </a:tblGrid>
              <a:tr h="54864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</a:rPr>
                        <a:t>variant</a:t>
                      </a:r>
                    </a:p>
                  </a:txBody>
                  <a:tcPr marT="36576" marB="36576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</a:rPr>
                        <a:t>epochs</a:t>
                      </a:r>
                    </a:p>
                  </a:txBody>
                  <a:tcPr marT="36576" marB="36576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</a:rPr>
                        <a:t>rms</a:t>
                      </a:r>
                    </a:p>
                  </a:txBody>
                  <a:tcPr marT="36576" marB="36576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</a:rPr>
                        <a:t>K (m/s)</a:t>
                      </a:r>
                    </a:p>
                  </a:txBody>
                  <a:tcPr marT="36576" marB="36576">
                    <a:solidFill>
                      <a:srgbClr val="2A78D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0B0B0B"/>
                          </a:solidFill>
                        </a:rPr>
                        <a:t>everything (the result)</a:t>
                      </a:r>
                    </a:p>
                  </a:txBody>
                  <a:tcPr marT="36576" marB="36576"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0B0B0B"/>
                          </a:solidFill>
                        </a:rPr>
                        <a:t>31</a:t>
                      </a:r>
                    </a:p>
                  </a:txBody>
                  <a:tcPr marT="36576" marB="36576"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0B0B0B"/>
                          </a:solidFill>
                        </a:rPr>
                        <a:t>25.8</a:t>
                      </a:r>
                    </a:p>
                  </a:txBody>
                  <a:tcPr marT="36576" marB="36576"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0B0B0B"/>
                          </a:solidFill>
                        </a:rPr>
                        <a:t>72.4 ± 7.1</a:t>
                      </a:r>
                    </a:p>
                  </a:txBody>
                  <a:tcPr marT="36576" marB="36576">
                    <a:solidFill>
                      <a:srgbClr val="F3F3F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0B0B0B"/>
                          </a:solidFill>
                        </a:rPr>
                        <a:t>tellurics masked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0B0B0B"/>
                          </a:solidFill>
                        </a:rPr>
                        <a:t>31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0B0B0B"/>
                          </a:solidFill>
                        </a:rPr>
                        <a:t>24.2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0B0B0B"/>
                          </a:solidFill>
                        </a:rPr>
                        <a:t>73.0 ± 6.7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0B0B0B"/>
                          </a:solidFill>
                        </a:rPr>
                        <a:t>no epochs with ≤ 8 orders</a:t>
                      </a:r>
                    </a:p>
                  </a:txBody>
                  <a:tcPr marT="36576" marB="36576"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0B0B0B"/>
                          </a:solidFill>
                        </a:rPr>
                        <a:t>25</a:t>
                      </a:r>
                    </a:p>
                  </a:txBody>
                  <a:tcPr marT="36576" marB="36576"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0B0B0B"/>
                          </a:solidFill>
                        </a:rPr>
                        <a:t>18.2</a:t>
                      </a:r>
                    </a:p>
                  </a:txBody>
                  <a:tcPr marT="36576" marB="36576"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0B0B0B"/>
                          </a:solidFill>
                        </a:rPr>
                        <a:t>70.8 ± 5.6</a:t>
                      </a:r>
                    </a:p>
                  </a:txBody>
                  <a:tcPr marT="36576" marB="36576">
                    <a:solidFill>
                      <a:srgbClr val="F3F3F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0B0B0B"/>
                          </a:solidFill>
                        </a:rPr>
                        <a:t>no red orders 58–61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0B0B0B"/>
                          </a:solidFill>
                        </a:rPr>
                        <a:t>31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0B0B0B"/>
                          </a:solidFill>
                        </a:rPr>
                        <a:t>17.2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0B0B0B"/>
                          </a:solidFill>
                        </a:rPr>
                        <a:t>72.4 ± 4.7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0B0B0B"/>
                          </a:solidFill>
                        </a:rPr>
                        <a:t>both</a:t>
                      </a:r>
                    </a:p>
                  </a:txBody>
                  <a:tcPr marT="36576" marB="36576"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0B0B0B"/>
                          </a:solidFill>
                        </a:rPr>
                        <a:t>25</a:t>
                      </a:r>
                    </a:p>
                  </a:txBody>
                  <a:tcPr marT="36576" marB="36576"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0B0B0B"/>
                          </a:solidFill>
                        </a:rPr>
                        <a:t>11.5</a:t>
                      </a:r>
                    </a:p>
                  </a:txBody>
                  <a:tcPr marT="36576" marB="36576"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0B0B0B"/>
                          </a:solidFill>
                        </a:rPr>
                        <a:t>71.8 ± 3.5</a:t>
                      </a:r>
                    </a:p>
                  </a:txBody>
                  <a:tcPr marT="36576" marB="36576">
                    <a:solidFill>
                      <a:srgbClr val="F3F3F1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365760" y="5806440"/>
            <a:ext cx="11457432" cy="91440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0B0B0B"/>
                </a:solidFill>
              </a:rPr>
              <a:t>K is stable (69.5–73.8). The 11.5 m/s variant was chosen after seeing residuals: reported, not claimed.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0B0B0B"/>
                </a:solidFill>
              </a:rPr>
              <a:t>Where we 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2743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2000" b="0">
                <a:solidFill>
                  <a:srgbClr val="52514E"/>
                </a:solidFill>
              </a:rPr>
              <a:t>26</a:t>
            </a:r>
          </a:p>
        </p:txBody>
      </p:sp>
      <p:pic>
        <p:nvPicPr>
          <p:cNvPr id="5" name="Picture 4" descr="fig8_prec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68225"/>
            <a:ext cx="11457432" cy="447582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5806440"/>
            <a:ext cx="11457432" cy="91440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0B0B0B"/>
                </a:solidFill>
              </a:rPr>
              <a:t>Photon budget 1.4 m/s; achieved 26 m/s. The gap is modelling, not photons.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0B0B0B"/>
                </a:solidFill>
              </a:rPr>
              <a:t>Why 26 m/s and not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2743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2000" b="0">
                <a:solidFill>
                  <a:srgbClr val="52514E"/>
                </a:solidFill>
              </a:rPr>
              <a:t>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97280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>
                <a:solidFill>
                  <a:srgbClr val="0B0B0B"/>
                </a:solidFill>
              </a:rPr>
              <a:t>• The atlas is a different cell: part of its misfit does not cancel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0B0B0B"/>
                </a:solidFill>
              </a:rPr>
              <a:t>• Weak iodine in the red orders: errors shared by whole orders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0B0B0B"/>
                </a:solidFill>
              </a:rPr>
              <a:t>• Six epochs with only 2–8 usable orders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0B0B0B"/>
                </a:solidFill>
              </a:rPr>
              <a:t>• A simple instrumental profile (4-parameter super-Gaussian)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0B0B0B"/>
                </a:solidFill>
              </a:rPr>
              <a:t>• Tellurics unmodelled; a marginal seasonal term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5806440"/>
            <a:ext cx="11457432" cy="91440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0B0B0B"/>
                </a:solidFill>
              </a:rPr>
              <a:t>Largest single gain: the HIRES cell’s own FTS spectrum, if it exists.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0B0B0B"/>
                </a:solidFill>
              </a:rPr>
              <a:t>Upstream reports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2743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2000" b="0">
                <a:solidFill>
                  <a:srgbClr val="52514E"/>
                </a:solidFill>
              </a:rPr>
              <a:t>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>
                <a:solidFill>
                  <a:srgbClr val="0B0B0B"/>
                </a:solidFill>
              </a:rPr>
              <a:t>• PypeIt: 15 items (email to Ryan Cooke, issues, PR)</a:t>
            </a:r>
          </a:p>
          <a:p>
            <a:pPr lvl="1">
              <a:spcAft>
                <a:spcPts val="800"/>
              </a:spcAft>
            </a:pPr>
            <a:r>
              <a:rPr sz="2200" b="0">
                <a:solidFill>
                  <a:srgbClr val="0B0B0B"/>
                </a:solidFill>
              </a:rPr>
              <a:t>– keck_hires_orig bugs; silent failures of run_pypeit</a:t>
            </a:r>
          </a:p>
          <a:p>
            <a:pPr lvl="1">
              <a:spcAft>
                <a:spcPts val="800"/>
              </a:spcAft>
            </a:pPr>
            <a:r>
              <a:rPr sz="2200" b="0">
                <a:solidFill>
                  <a:srgbClr val="0B0B0B"/>
                </a:solidFill>
              </a:rPr>
              <a:t>– wave.py sign error; ivar mis-scaled; zero wavelengths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0B0B0B"/>
                </a:solidFill>
              </a:rPr>
              <a:t>• pyodine: 21 items (GitHub issues)</a:t>
            </a:r>
          </a:p>
          <a:p>
            <a:pPr lvl="1">
              <a:spcAft>
                <a:spcPts val="800"/>
              </a:spcAft>
            </a:pPr>
            <a:r>
              <a:rPr sz="2200" b="0">
                <a:solidFill>
                  <a:srgbClr val="0B0B0B"/>
                </a:solidFill>
              </a:rPr>
              <a:t>– 6 fork changes; index and order traps; swallowed errors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0B0B0B"/>
                </a:solidFill>
              </a:rP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2743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2000" b="0">
                <a:solidFill>
                  <a:srgbClr val="52514E"/>
                </a:solidFill>
              </a:rPr>
              <a:t>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>
                <a:solidFill>
                  <a:srgbClr val="0B0B0B"/>
                </a:solidFill>
              </a:rPr>
              <a:t>• A HIRES-cell iodine spectrum: FTS scan, or empirical from B stars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0B0B0B"/>
                </a:solidFill>
              </a:rPr>
              <a:t>• Weight whole orders, not just chunks, in the combination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0B0B0B"/>
                </a:solidFill>
              </a:rPr>
              <a:t>• Fix PypeIt’s noise model (optimal vs boxcar)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0B0B0B"/>
                </a:solidFill>
              </a:rPr>
              <a:t>• Diagnose 1998-09-13’s arc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0B0B0B"/>
                </a:solidFill>
              </a:rPr>
              <a:t>Reproducibility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2743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2000" b="0">
                <a:solidFill>
                  <a:srgbClr val="52514E"/>
                </a:solidFill>
              </a:rPr>
              <a:t>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>
                <a:solidFill>
                  <a:srgbClr val="0B0B0B"/>
                </a:solidFill>
              </a:rPr>
              <a:t>• Every number from a script; every table in first_hires_exoplanet/data/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0B0B0B"/>
                </a:solidFill>
              </a:rPr>
              <a:t>• PypeIt 2.0.2.dev1217+g017bece06; pyodine 4488b09 + fork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0B0B0B"/>
                </a:solidFill>
              </a:rPr>
              <a:t>• Velocities: fit_all_epochs.py; assessment: figs_phase3.py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0B0B0B"/>
                </a:solidFill>
              </a:rPr>
              <a:t>• Reports: claude_prompts/data_phase{1,2,3}_prompt.md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0B0B0B"/>
                </a:solidFill>
              </a:rPr>
              <a:t>• This deck: make_slides.py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