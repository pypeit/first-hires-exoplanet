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0B0B0B"/>
                </a:solidFill>
              </a:rPr>
              <a:t>Re-detecting HD 187123 b from the 1998 Keck/HIRES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52514E"/>
                </a:solidFill>
              </a:rPr>
              <a:t>A modern, open reduction of the first planet Keck found: PypeIt + an iodine forward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J. Xavier Prochaska and Claude  ·  phases 1–3  ·  30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The 1998 discovery: Butler et al., PASP 110, 1389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</a:t>
            </a:r>
          </a:p>
        </p:txBody>
      </p:sp>
      <p:pic>
        <p:nvPicPr>
          <p:cNvPr id="5" name="Picture 4" descr="butler1998_fig1_ju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31" y="1097280"/>
            <a:ext cx="4633098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343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Fig. 1: the 1998 July 15–19 run</a:t>
            </a:r>
          </a:p>
        </p:txBody>
      </p:sp>
      <p:pic>
        <p:nvPicPr>
          <p:cNvPr id="7" name="Picture 6" descr="butler1998_fig2_pha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19" y="1097280"/>
            <a:ext cx="4733506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45352" y="4343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Fig. 2: all 20 velocities, phased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006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B0B0B"/>
                </a:solidFill>
              </a:rPr>
              <a:t>P = 3.097 ± 0.003 d   ·   K = 72.0 ± 2.0 m/s   ·   e = 0.03 ± 0.03   ·   M sin i = 0.52 Jupiter masses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Table 1. 20 velocities, 1997 Dec – 1998 Aug; errors ~6 m/s; rms 7.5 m/s about the orbit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Our target. This work: K = 72.4 ± 7.1 m/s at 25.8 m/s rms, from 31 cell-in epochs.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Planet recovered: K = 72.4 ± 7.1 m/s (10.2σ); published 72, modern catalogue 69.2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Period found blind: 3.0954 d (true 3.0966 d), false-alarm probability 2 × 10⁻¹¹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25.8 m/s per epoch about the orbit; 31 cell-in epochs, 19 nights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28× better than lamp-calibrated velocities; ~9× short of Butler’s 3 m/s; ~12× short of the modern pipeline (2.2 m/s)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All open: PypeIt + a tested pyodine fork; nothing from the discovery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Success criterion (50 m/s per epoch, an independent detection): met.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Three phases, one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4</a:t>
            </a:r>
          </a:p>
        </p:txBody>
      </p:sp>
      <p:pic>
        <p:nvPicPr>
          <p:cNvPr id="5" name="Picture 4" descr="fig_slide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93083"/>
            <a:ext cx="11457432" cy="38261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Phase 2 measured why lamps fail; phase 3 replaced the lamp with the iodine cell.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AF7A"/>
                </a:solidFill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0B0B0B"/>
                </a:solidFill>
              </a:rPr>
              <a:t>PypeIt on the pre-2004 HIRES CCD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52514E"/>
                </a:solidFill>
              </a:rPr>
              <a:t>Can a modern open pipeline reduce the original Tektronix-detector frames at all?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Phase 1: what PypeIt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1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4050791"/>
              </a:tblGrid>
              <a:tr h="512064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get_rawimage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prepix × namp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image 21 columns off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bad-pixel mask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column C − PREPIX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mask 20 px off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binning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'1,2' not '2,1'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platescale halved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check_spectrograph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raise the error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silently accepted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exprng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[1, None] for Orig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science excluded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find_trim_edge, sky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1,1; no sky fit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star fills the slit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flats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borrow clean B1 flats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none on most nights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Fixes on branch orig-hires-fixes (017bece06); verify_orig_fixes.py reproduces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37 orders, every one solved below 0.2 px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7</a:t>
            </a:r>
          </a:p>
        </p:txBody>
      </p:sp>
      <p:pic>
        <p:nvPicPr>
          <p:cNvPr id="5" name="Picture 4" descr="fig_p1_wave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61429"/>
            <a:ext cx="11457432" cy="408942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July 1998: 10 of 10 frames, 37 orders each; wavecal RMS medians 0.115–0.127 px.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The traced orders and the flat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8</a:t>
            </a:r>
          </a:p>
        </p:txBody>
      </p:sp>
      <p:pic>
        <p:nvPicPr>
          <p:cNvPr id="5" name="Picture 4" descr="fig_p1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66450"/>
            <a:ext cx="11457432" cy="40793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The inherited find_trim_edge = 3,3 would mask 6 of ~10 pixels per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8A8A86"/>
                </a:solidFill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0B0B0B"/>
                </a:solidFill>
              </a:rPr>
              <a:t>Twenty nights, and velocities from a lamp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52514E"/>
                </a:solidFill>
              </a:rPr>
              <a:t>The whole discovery era reduced; velocities by cross-correlation; the inputs phase 3 needs.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What phase 2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20 nights, 36 frames, 37 orders; wavecal RMS 0.11–0.15 px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Quality filter: 1329 order-spectra, 11.3% rejected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Template: three cell-out exposures, S/N ~790 per pixel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Atlas: Fischer 2022 FTS; positions match (r = 0.928), depths need α = 2.59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Adapter: observed frame, JD(UTC) mid-exposure, BVC in m/s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Plus refframe_audit.py: two PypeIt core/wave.py bugs (next slide).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PypeIt’s velocity correction (refframe_audit.py)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Solar-term sign error in geomotion_velocity (wave.py:128)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– +9 to +14 m/s off astropy; drifts 5.2 m/s over nine months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– heliocentric is the default: every user is affected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Relativistic terms omitted in geomotion_correct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– −4.6 m/s, nearly constant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Both still in develop; reported upstream.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The atlas: positions transfer, depths need α ≈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12</a:t>
            </a:r>
          </a:p>
        </p:txBody>
      </p:sp>
      <p:pic>
        <p:nvPicPr>
          <p:cNvPr id="5" name="Picture 4" descr="fig_p2_at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838" y="1097280"/>
            <a:ext cx="8553276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Beer–Lambert, not pyodine’s linear scaling (negative at α = 2.6).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Cross-correlation: the planet is not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13</a:t>
            </a:r>
          </a:p>
        </p:txBody>
      </p:sp>
      <p:pic>
        <p:nvPicPr>
          <p:cNvPr id="5" name="Picture 4" descr="fig_p2_phase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4897"/>
            <a:ext cx="11457432" cy="45224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36 epochs, rms 702 m/s; K = 408 ± 188 m/s — not a detection.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Why the lamp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Orders within one exposure agree to 47 m/s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Exposures disagree by ~700 m/s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So the limit is the wavelength zero point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Borrowed-arc night: +1.5 to +2.4 km/s off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08-25: drifts 1.6 km/s in 6.7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The iodine cell fixes exactly this: its ruler rides on the same photons.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A78D6"/>
                </a:solidFill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0B0B0B"/>
                </a:solidFill>
              </a:rPr>
              <a:t>The iodine forward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52514E"/>
                </a:solidFill>
              </a:rPr>
              <a:t>Fork pyodine, adapt it to HIRES, fit every cell-in epoch, and assess exactly as phase 2 did.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The pyodine fork: six tested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937760"/>
                <a:gridCol w="5605272"/>
              </a:tblGrid>
              <a:tr h="54864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NumPy 2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does not run as shipped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Beer–Lambert depth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linear goes negative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2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atlas wavelength frame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air vs vacuum: 83 km/s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bary units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JD(UTC) and m/s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weight by 'ivar'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use PypeIt’s noise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chunk template index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order subsets misfit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pyodine 4488b09 + changes 0–5; each has a test that fails without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Deconvolution: pyodine’s spline fails at HIRES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17</a:t>
            </a:r>
          </a:p>
        </p:txBody>
      </p:sp>
      <p:pic>
        <p:nvPicPr>
          <p:cNvPr id="5" name="Picture 4" descr="fig_p3_de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836" y="1097280"/>
            <a:ext cx="8209280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misc.rebin overshoots 2.2-px lines; oversampling 1 re-convolves at χ² 1.1.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One epoch: right velocity, wrong iodine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18</a:t>
            </a:r>
          </a:p>
        </p:txBody>
      </p:sp>
      <p:pic>
        <p:nvPicPr>
          <p:cNvPr id="5" name="Picture 4" descr="fig_p5_one_epo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32" y="1097280"/>
            <a:ext cx="8263288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Within 12–18 m/s of prediction; the misfit tracks iodine contrast (ρ ≈ +0.7).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The instrumental profile is not the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19</a:t>
            </a:r>
          </a:p>
        </p:txBody>
      </p:sp>
      <p:pic>
        <p:nvPicPr>
          <p:cNvPr id="5" name="Picture 4" descr="fig_p6_lsf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1224"/>
            <a:ext cx="11457432" cy="3369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Four LSF models tie to ±5%; super-Gaussian chosen.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B stars: the atlas’s line pattern is the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20</a:t>
            </a:r>
          </a:p>
        </p:txBody>
      </p:sp>
      <p:pic>
        <p:nvPicPr>
          <p:cNvPr id="5" name="Picture 4" descr="fig_p6b_b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32" y="1097280"/>
            <a:ext cx="8263288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HIRES cell α ≈ 3.33; fixing α per chunk buys nothing.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All 31 epochs: the misfit is common, and cancels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21</a:t>
            </a:r>
          </a:p>
        </p:txBody>
      </p:sp>
      <p:pic>
        <p:nvPicPr>
          <p:cNvPr id="5" name="Picture 4" descr="fig_p7_epoc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945" y="1097280"/>
            <a:ext cx="6805061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pyodine’s chunk offsets remove it: 290 → 230 m/s per chunk; ~19 m/s per epoch.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The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22</a:t>
            </a:r>
          </a:p>
        </p:txBody>
      </p:sp>
      <p:pic>
        <p:nvPicPr>
          <p:cNvPr id="5" name="Picture 4" descr="fig_ph3_phase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386" y="1097280"/>
            <a:ext cx="8132179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K = 72.4 ± 7.1 m/s (10.2σ); residual 25.8 m/s, χ²/dof 1.05.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Epoch by epoch against the modern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23</a:t>
            </a:r>
          </a:p>
        </p:txBody>
      </p:sp>
      <p:pic>
        <p:nvPicPr>
          <p:cNvPr id="5" name="Picture 4" descr="fig_ph3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755" y="1097280"/>
            <a:ext cx="4675441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r = +0.89 (phase 2: +0.38); the errors are honest (χ²/dof 1.03).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Residuals and the blind period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24</a:t>
            </a:r>
          </a:p>
        </p:txBody>
      </p:sp>
      <p:pic>
        <p:nvPicPr>
          <p:cNvPr id="5" name="Picture 4" descr="fig_ph3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420" y="1097280"/>
            <a:ext cx="6770111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No ThAr, misfit or order-count dependence; residual periodogram flat.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Every named calibration defect is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25</a:t>
            </a:r>
          </a:p>
        </p:txBody>
      </p:sp>
      <p:pic>
        <p:nvPicPr>
          <p:cNvPr id="5" name="Picture 4" descr="fig_p9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372" y="1097280"/>
            <a:ext cx="6386208" cy="4617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Borrowed arcs, intra-night drift, the no-flat night, 09-13’s bad arc.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What is left: re-combining without the weakest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1554480"/>
                <a:gridCol w="1554480"/>
                <a:gridCol w="2770632"/>
              </a:tblGrid>
              <a:tr h="54864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epochs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rms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K (m/s)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everything (the result)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31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25.8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72.4 ± 7.1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tellurics masked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31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24.2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73.0 ± 6.7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no epochs with ≤ 8 orders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25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18.2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70.8 ± 5.6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no red orders 58–61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31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17.2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72.4 ± 4.7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both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25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11.5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B0B0B"/>
                          </a:solidFill>
                        </a:rPr>
                        <a:t>71.8 ± 3.5</a:t>
                      </a:r>
                    </a:p>
                  </a:txBody>
                  <a:tcPr marT="36576" marB="36576">
                    <a:solidFill>
                      <a:srgbClr val="F3F3F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K is stable (69.5–73.8). The 11.5 m/s variant was chosen after seeing residuals: reported, not claimed.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27</a:t>
            </a:r>
          </a:p>
        </p:txBody>
      </p:sp>
      <p:pic>
        <p:nvPicPr>
          <p:cNvPr id="5" name="Picture 4" descr="fig8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68225"/>
            <a:ext cx="11457432" cy="44758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Photon budget 1.4 m/s; achieved 26 m/s. The gap is modelling, not photons.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Why 26 m/s and not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The atlas is a different cell: part of its misfit does not cancel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Weak iodine in the red orders: errors shared by whole orders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Six epochs with only 2–8 usable orders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A simple instrumental profile (4-parameter super-Gaussian)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Tellurics unmodelled; a marginal seasonal 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Largest single gain: the HIRES cell’s own FTS spectrum, if it exists.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Upstream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PypeIt: 15 items (email to Ryan Cooke, issues, PR)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– keck_hires_orig bugs; silent failures of run_pypeit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– wave.py sign error; ivar mis-scaled; zero wavelengths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pyodine: 21 items (GitHub issues)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– 6 fork changes; index and order traps; swallowed errors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A HIRES-cell iodine spectrum: FTS scan, or empirical from B stars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Weight whole orders, not just chunks, in the combination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Fix PypeIt’s noise model (optimal vs boxcar)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Diagnose 1998-09-13’s arc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Every number from a script; every table in first_hires_exoplanet/data/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PypeIt 2.0.2.dev1217+g017bece06; pyodine 4488b09 + fork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Velocities: fit_all_epochs.py; assessment: figs_phase3.py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Reports: claude_prompts/data_phase{1,2,3}_prompt.md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B0B0B"/>
                </a:solidFill>
              </a:rPr>
              <a:t>• This deck: make_slides.py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